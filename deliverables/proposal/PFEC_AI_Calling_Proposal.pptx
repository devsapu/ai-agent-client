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23"/>
    <p:sldId id="273" r:id="rId24"/>
    <p:sldId id="274" r:id="rId25"/>
    <p:sldId id="275" r:id="rId26"/>
    <p:sldId id="276" r:id="rId27"/>
    <p:sldId id="277" r:id="rId28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1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5577840"/>
            <a:ext cx="164592" cy="457200"/>
          </a:xfrm>
          <a:prstGeom prst="roundRect">
            <a:avLst>
              <a:gd name="adj" fmla="val 33333"/>
            </a:avLst>
          </a:prstGeom>
          <a:solidFill>
            <a:srgbClr val="0E7C7B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805672" y="5212080"/>
            <a:ext cx="164592" cy="822960"/>
          </a:xfrm>
          <a:prstGeom prst="roundRect">
            <a:avLst>
              <a:gd name="adj" fmla="val 33333"/>
            </a:avLst>
          </a:prstGeom>
          <a:solidFill>
            <a:srgbClr val="0E7C7B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9107424" y="4754880"/>
            <a:ext cx="164592" cy="1280160"/>
          </a:xfrm>
          <a:prstGeom prst="roundRect">
            <a:avLst>
              <a:gd name="adj" fmla="val 33333"/>
            </a:avLst>
          </a:prstGeom>
          <a:solidFill>
            <a:srgbClr val="0E7C7B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09176" y="4297680"/>
            <a:ext cx="164592" cy="1737360"/>
          </a:xfrm>
          <a:prstGeom prst="roundRect">
            <a:avLst>
              <a:gd name="adj" fmla="val 33333"/>
            </a:avLst>
          </a:prstGeom>
          <a:solidFill>
            <a:srgbClr val="0E7C7B">
              <a:alpha val="3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710928" y="4846320"/>
            <a:ext cx="164592" cy="1188720"/>
          </a:xfrm>
          <a:prstGeom prst="roundRect">
            <a:avLst>
              <a:gd name="adj" fmla="val 33333"/>
            </a:avLst>
          </a:prstGeom>
          <a:solidFill>
            <a:srgbClr val="0E7C7B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012680" y="5303520"/>
            <a:ext cx="164592" cy="731520"/>
          </a:xfrm>
          <a:prstGeom prst="roundRect">
            <a:avLst>
              <a:gd name="adj" fmla="val 33333"/>
            </a:avLst>
          </a:prstGeom>
          <a:solidFill>
            <a:srgbClr val="0E7C7B">
              <a:alpha val="3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0314432" y="5623560"/>
            <a:ext cx="164592" cy="411480"/>
          </a:xfrm>
          <a:prstGeom prst="roundRect">
            <a:avLst>
              <a:gd name="adj" fmla="val 33333"/>
            </a:avLst>
          </a:prstGeom>
          <a:solidFill>
            <a:srgbClr val="0E7C7B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10616184" y="4572000"/>
            <a:ext cx="164592" cy="1463040"/>
          </a:xfrm>
          <a:prstGeom prst="roundRect">
            <a:avLst>
              <a:gd name="adj" fmla="val 33333"/>
            </a:avLst>
          </a:prstGeom>
          <a:solidFill>
            <a:srgbClr val="0E7C7B">
              <a:alpha val="3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10917936" y="4114800"/>
            <a:ext cx="164592" cy="1920240"/>
          </a:xfrm>
          <a:prstGeom prst="roundRect">
            <a:avLst>
              <a:gd name="adj" fmla="val 33333"/>
            </a:avLst>
          </a:prstGeom>
          <a:solidFill>
            <a:srgbClr val="0E7C7B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1219688" y="5029200"/>
            <a:ext cx="164592" cy="1005840"/>
          </a:xfrm>
          <a:prstGeom prst="roundRect">
            <a:avLst>
              <a:gd name="adj" fmla="val 33333"/>
            </a:avLst>
          </a:prstGeom>
          <a:solidFill>
            <a:srgbClr val="0E7C7B">
              <a:alpha val="3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521440" y="5486400"/>
            <a:ext cx="164592" cy="548640"/>
          </a:xfrm>
          <a:prstGeom prst="roundRect">
            <a:avLst>
              <a:gd name="adj" fmla="val 33333"/>
            </a:avLst>
          </a:prstGeom>
          <a:solidFill>
            <a:srgbClr val="0E7C7B">
              <a:alpha val="4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PFEC GLOBAL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196596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Calling Solution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822960" y="306324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vendor-agnostic tech stack, feasibility study &amp; cost estimate for Zoho CRM–driven, Bangla + English AI outbound calling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22960" y="4160520"/>
            <a:ext cx="292608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348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for: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PFEC Global — Offshore (India / Sri Lanka / Bangladesh) &amp; Onshore (Australia)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Date: 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July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deck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1A243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9339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private/tmp/claude-501/-Users-sapumalthepulangoda-Documents/602537f8-4f42-4c2d-973d-985821580012/scratchpad/icons/tar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210654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385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brief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6334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PFEC actually needs, in one page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1A243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199339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/private/tmp/claude-501/-Users-sapumalthepulangoda-Documents/602537f8-4f42-4c2d-973d-985821580012/scratchpad/icons/site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437" y="2106549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9385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526280" y="26334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composable, best-of-breed tech stack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0" y="173736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1A243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183880" y="199339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/private/tmp/claude-501/-Users-sapumalthepulangoda-Documents/602537f8-4f42-4c2d-973d-985821580012/scratchpad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037" y="2106549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93852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study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183880" y="263347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6 vendors/frameworks stack up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7490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1A243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68680" y="400507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3" descr="/private/tmp/claude-501/-Users-sapumalthepulangoda-Documents/602537f8-4f42-4c2d-973d-985821580012/scratchpad/icons/cr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37" y="4118229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9502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Zoho CRM integration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868680" y="464515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Zapier — native workflow + webhooks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7490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1A243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26280" y="400507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6" name="Image 4" descr="/private/tmp/claude-501/-Users-sapumalthepulangoda-Documents/602537f8-4f42-4c2d-973d-985821580012/scratchpad/icons/rou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437" y="4118229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9502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&amp; pilot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526280" y="464515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Warmer → Phase 2 Full Agent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55280" y="3749040"/>
            <a:ext cx="3429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76200" dist="25400" dir="5400000">
              <a:srgbClr val="1A2430">
                <a:alpha val="12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183880" y="400507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1" name="Image 5" descr="/private/tmp/claude-501/-Users-sapumalthepulangoda-Documents/602537f8-4f42-4c2d-973d-985821580012/scratchpad/icons/co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7037" y="4118229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3950208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estimate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183880" y="4645152"/>
            <a:ext cx="2971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cost + running cost, by volume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UNDERSTANDING THE BRIEF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integrated problem, two source documents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Requirements Brief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E4F3F2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212848"/>
            <a:ext cx="46634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Outbound calling via API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+ English, with code-switching (critical must-have)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Bring-your-own SIP trunk (local BD caller ID)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End-of-call webhook: transcript, summary, structured data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leadId round-trips through the whole call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recording by URL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Function-calling mid-call (Phase 2 booking)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concurrency, batch/campaign dialing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263640" y="16002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Requirements Document (BRD)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263640" y="2011680"/>
            <a:ext cx="5303520" cy="3931920"/>
          </a:xfrm>
          <a:prstGeom prst="roundRect">
            <a:avLst>
              <a:gd name="adj" fmla="val 1860"/>
            </a:avLst>
          </a:prstGeom>
          <a:solidFill>
            <a:srgbClr val="FBF1E6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212848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7A4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Zoho CRM integration only — no Zapier, anywhere in production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7A4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11-stage lead lifecycle, exact stage names required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7A4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call attempts over 5 days before disqualification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7A4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(India/Sri Lanka/Bangladesh) + Onshore (Australia: Education &amp; Migration)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7A4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must adapt to campaign, UTM, branch, enquiry type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7A4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Migration/visa talking points from a PFEC-governed knowledge base only</a:t>
            </a:r>
            <a:endParaRPr lang="en-US" sz="125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50" dirty="0">
                <a:solidFill>
                  <a:srgbClr val="7A4A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CRM owns downstream Email/WhatsApp triggers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2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single off-the-shelf vendor clears every bar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Bangladesh-dialect Bangla and a Zapier-free, fully-owned Zoho CRM contract are two different specialisms — and most “all-in-one” voice platforms only cover one of them well.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231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1B3A54"/>
          </a:solidFill>
          <a:ln/>
        </p:spPr>
      </p:sp>
      <p:sp>
        <p:nvSpPr>
          <p:cNvPr id="6" name="Shape 4"/>
          <p:cNvSpPr/>
          <p:nvPr/>
        </p:nvSpPr>
        <p:spPr>
          <a:xfrm>
            <a:off x="960120" y="274320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mage 0" descr="/private/tmp/claude-501/-Users-sapumalthepulangoda-Documents/602537f8-4f42-4c2d-973d-985821580012/scratchpad/icons/langu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138" y="2887218"/>
            <a:ext cx="352044" cy="35204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0120" y="35661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Bangla quality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40233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global platforms treat Bengali as an afterthought; Indic-specialist vendors nail the accent but aren't built for enterprise CRM orchestration.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24231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1B3A54"/>
          </a:solidFill>
          <a:ln/>
        </p:spPr>
      </p:sp>
      <p:sp>
        <p:nvSpPr>
          <p:cNvPr id="11" name="Shape 8"/>
          <p:cNvSpPr/>
          <p:nvPr/>
        </p:nvSpPr>
        <p:spPr>
          <a:xfrm>
            <a:off x="4754880" y="274320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2" name="Image 1" descr="/private/tmp/claude-501/-Users-sapumalthepulangoda-Documents/602537f8-4f42-4c2d-973d-985821580012/scratchpad/icons/cr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8898" y="2887218"/>
            <a:ext cx="352044" cy="3520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54880" y="35661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Zoho, not Zapier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754880" y="40233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BRD explicitly bans iPaaS in production. That write-back logic has to be owned and built, not bought as a plug-in.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229600" y="2423160"/>
            <a:ext cx="3520440" cy="3200400"/>
          </a:xfrm>
          <a:prstGeom prst="roundRect">
            <a:avLst>
              <a:gd name="adj" fmla="val 2857"/>
            </a:avLst>
          </a:prstGeom>
          <a:solidFill>
            <a:srgbClr val="1B3A54"/>
          </a:solidFill>
          <a:ln/>
        </p:spPr>
      </p:sp>
      <p:sp>
        <p:nvSpPr>
          <p:cNvPr id="16" name="Shape 12"/>
          <p:cNvSpPr/>
          <p:nvPr/>
        </p:nvSpPr>
        <p:spPr>
          <a:xfrm>
            <a:off x="8549640" y="274320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2" descr="/private/tmp/claude-501/-Users-sapumalthepulangoda-Documents/602537f8-4f42-4c2d-973d-985821580012/scratchpad/icons/rou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3658" y="2887218"/>
            <a:ext cx="352044" cy="3520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549640" y="3566160"/>
            <a:ext cx="2880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regions, two journeys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549640" y="402336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C9D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batch/real-time calling and Onshore Education vs. Migration flows need different scripts, driven by live CRM context.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composable, best-of-breed stack — not one monolith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63500" dist="25400" dir="5400000">
              <a:srgbClr val="1A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87452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private/tmp/claude-501/-Users-sapumalthepulangoda-Documents/602537f8-4f42-4c2d-973d-985821580012/scratchpad/icons/c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411" y="200825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78308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CRM system of record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69164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CRM (existing)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892040" y="1828800"/>
            <a:ext cx="0" cy="685800"/>
          </a:xfrm>
          <a:prstGeom prst="line">
            <a:avLst/>
          </a:prstGeom>
          <a:noFill/>
          <a:ln w="12700">
            <a:solidFill>
              <a:srgbClr val="E2E8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20640" y="1856232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intake, 11-stage model, downstream Email/WhatsApp automation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2779776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63500" dist="25400" dir="5400000">
              <a:srgbClr val="1A243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962656"/>
            <a:ext cx="594360" cy="594360"/>
          </a:xfrm>
          <a:prstGeom prst="ellipse">
            <a:avLst/>
          </a:prstGeom>
          <a:solidFill>
            <a:srgbClr val="12283C"/>
          </a:solidFill>
          <a:ln/>
        </p:spPr>
      </p:sp>
      <p:pic>
        <p:nvPicPr>
          <p:cNvPr id="13" name="Image 1" descr="/private/tmp/claude-501/-Users-sapumalthepulangoda-Documents/602537f8-4f42-4c2d-973d-985821580012/scratchpad/icons/gea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411" y="3096387"/>
            <a:ext cx="326898" cy="32689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91640" y="287121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Integration middleware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1691640" y="3236976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Custom-built microservice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892040" y="2916936"/>
            <a:ext cx="0" cy="685800"/>
          </a:xfrm>
          <a:prstGeom prst="line">
            <a:avLst/>
          </a:prstGeom>
          <a:noFill/>
          <a:ln w="12700">
            <a:solidFill>
              <a:srgbClr val="E2E8E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0" y="2944368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↔ voice-platform contract, retry scheduler, migration knowledge base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40080" y="3867912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63500" dist="25400" dir="5400000">
              <a:srgbClr val="1A243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68680" y="4050792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0" name="Image 2" descr="/private/tmp/claude-501/-Users-sapumalthepulangoda-Documents/602537f8-4f42-4c2d-973d-985821580012/scratchpad/icons/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2411" y="4184523"/>
            <a:ext cx="326898" cy="32689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91640" y="395935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Voice orchestration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691640" y="4325112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or Retell AI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892040" y="4005072"/>
            <a:ext cx="0" cy="685800"/>
          </a:xfrm>
          <a:prstGeom prst="line">
            <a:avLst/>
          </a:prstGeom>
          <a:noFill/>
          <a:ln w="12700">
            <a:solidFill>
              <a:srgbClr val="E2E8E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5120640" y="4032504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BYO-SIP, mid-call function-calling, webhook + leadId round-trip</a:t>
            </a:r>
            <a:endParaRPr lang="en-US" sz="1200" dirty="0"/>
          </a:p>
        </p:txBody>
      </p:sp>
      <p:sp>
        <p:nvSpPr>
          <p:cNvPr id="25" name="Shape 20"/>
          <p:cNvSpPr/>
          <p:nvPr/>
        </p:nvSpPr>
        <p:spPr>
          <a:xfrm>
            <a:off x="640080" y="4956048"/>
            <a:ext cx="10908792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63500" dist="25400" dir="5400000">
              <a:srgbClr val="1A243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868680" y="5138928"/>
            <a:ext cx="594360" cy="594360"/>
          </a:xfrm>
          <a:prstGeom prst="ellipse">
            <a:avLst/>
          </a:prstGeom>
          <a:solidFill>
            <a:srgbClr val="12283C"/>
          </a:solidFill>
          <a:ln/>
        </p:spPr>
      </p:sp>
      <p:pic>
        <p:nvPicPr>
          <p:cNvPr id="27" name="Image 3" descr="/private/tmp/claude-501/-Users-sapumalthepulangoda-Documents/602537f8-4f42-4c2d-973d-985821580012/scratchpad/icons/m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411" y="5272659"/>
            <a:ext cx="326898" cy="326898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91640" y="504748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Speech + language</a:t>
            </a:r>
            <a:endParaRPr lang="en-US" sz="1350" dirty="0"/>
          </a:p>
        </p:txBody>
      </p:sp>
      <p:sp>
        <p:nvSpPr>
          <p:cNvPr id="29" name="Text 23"/>
          <p:cNvSpPr/>
          <p:nvPr/>
        </p:nvSpPr>
        <p:spPr>
          <a:xfrm>
            <a:off x="1691640" y="5413248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bn-BD / Sarvam + GPT-4o</a:t>
            </a:r>
            <a:endParaRPr lang="en-US" sz="1150" dirty="0"/>
          </a:p>
        </p:txBody>
      </p:sp>
      <p:sp>
        <p:nvSpPr>
          <p:cNvPr id="30" name="Shape 24"/>
          <p:cNvSpPr/>
          <p:nvPr/>
        </p:nvSpPr>
        <p:spPr>
          <a:xfrm>
            <a:off x="4892040" y="5093208"/>
            <a:ext cx="0" cy="685800"/>
          </a:xfrm>
          <a:prstGeom prst="line">
            <a:avLst/>
          </a:prstGeom>
          <a:noFill/>
          <a:ln w="12700">
            <a:solidFill>
              <a:srgbClr val="E2E8EC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120640" y="5120640"/>
            <a:ext cx="6309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+ English STT/TTS and conversational reasoning</a:t>
            </a:r>
            <a:endParaRPr lang="en-US" sz="1200" dirty="0"/>
          </a:p>
        </p:txBody>
      </p:sp>
      <p:sp>
        <p:nvSpPr>
          <p:cNvPr id="32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one call flows, end to end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709928" cy="3108960"/>
          </a:xfrm>
          <a:prstGeom prst="roundRect">
            <a:avLst>
              <a:gd name="adj" fmla="val 4278"/>
            </a:avLst>
          </a:prstGeom>
          <a:solidFill>
            <a:srgbClr val="12283C"/>
          </a:solidFill>
          <a:ln/>
        </p:spPr>
      </p:sp>
      <p:sp>
        <p:nvSpPr>
          <p:cNvPr id="5" name="Text 3"/>
          <p:cNvSpPr/>
          <p:nvPr/>
        </p:nvSpPr>
        <p:spPr>
          <a:xfrm>
            <a:off x="749808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220724" y="2468880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7" name="Image 0" descr="/private/tmp/claude-501/-Users-sapumalthepulangoda-Documents/602537f8-4f42-4c2d-973d-985821580012/scratchpad/icons/c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4168" y="259232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200400"/>
            <a:ext cx="1435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Lead eligible in Zoho CRM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4023360"/>
            <a:ext cx="1435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= Not Yet Contacted, context fields populated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68880" y="1965960"/>
            <a:ext cx="1709928" cy="3108960"/>
          </a:xfrm>
          <a:prstGeom prst="roundRect">
            <a:avLst>
              <a:gd name="adj" fmla="val 4278"/>
            </a:avLst>
          </a:prstGeom>
          <a:solidFill>
            <a:srgbClr val="0E7C7B"/>
          </a:solidFill>
          <a:ln/>
        </p:spPr>
      </p:sp>
      <p:sp>
        <p:nvSpPr>
          <p:cNvPr id="11" name="Text 8"/>
          <p:cNvSpPr/>
          <p:nvPr/>
        </p:nvSpPr>
        <p:spPr>
          <a:xfrm>
            <a:off x="2578608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3049524" y="2468880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3" name="Image 1" descr="/private/tmp/claude-501/-Users-sapumalthepulangoda-Documents/602537f8-4f42-4c2d-973d-985821580012/scratchpad/icons/flo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2968" y="259232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606040" y="3200400"/>
            <a:ext cx="1435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Native Zoho webhook fires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2606040" y="4023360"/>
            <a:ext cx="1435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Rule → middleware. No Zapier, anywhere.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4297680" y="1965960"/>
            <a:ext cx="1709928" cy="3108960"/>
          </a:xfrm>
          <a:prstGeom prst="roundRect">
            <a:avLst>
              <a:gd name="adj" fmla="val 4278"/>
            </a:avLst>
          </a:prstGeom>
          <a:solidFill>
            <a:srgbClr val="12283C"/>
          </a:solidFill>
          <a:ln/>
        </p:spPr>
      </p:sp>
      <p:sp>
        <p:nvSpPr>
          <p:cNvPr id="17" name="Text 13"/>
          <p:cNvSpPr/>
          <p:nvPr/>
        </p:nvSpPr>
        <p:spPr>
          <a:xfrm>
            <a:off x="4407408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4878324" y="2468880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9" name="Image 2" descr="/private/tmp/claude-501/-Users-sapumalthepulangoda-Documents/602537f8-4f42-4c2d-973d-985821580012/scratchpad/icons/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592324"/>
            <a:ext cx="301752" cy="30175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434840" y="3200400"/>
            <a:ext cx="1435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triggers the call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4434840" y="4023360"/>
            <a:ext cx="1435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leadId + context sent to Vapi/Retell outbound API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126480" y="1965960"/>
            <a:ext cx="1709928" cy="3108960"/>
          </a:xfrm>
          <a:prstGeom prst="roundRect">
            <a:avLst>
              <a:gd name="adj" fmla="val 4278"/>
            </a:avLst>
          </a:prstGeom>
          <a:solidFill>
            <a:srgbClr val="0E7C7B"/>
          </a:solidFill>
          <a:ln/>
        </p:spPr>
      </p:sp>
      <p:sp>
        <p:nvSpPr>
          <p:cNvPr id="23" name="Text 18"/>
          <p:cNvSpPr/>
          <p:nvPr/>
        </p:nvSpPr>
        <p:spPr>
          <a:xfrm>
            <a:off x="6236208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Shape 19"/>
          <p:cNvSpPr/>
          <p:nvPr/>
        </p:nvSpPr>
        <p:spPr>
          <a:xfrm>
            <a:off x="6707124" y="2468880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25" name="Image 3" descr="/private/tmp/claude-501/-Users-sapumalthepulangoda-Documents/602537f8-4f42-4c2d-973d-985821580012/scratchpad/icons/mi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0568" y="2592324"/>
            <a:ext cx="301752" cy="30175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263640" y="3200400"/>
            <a:ext cx="1435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calls over BYO-SIP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263640" y="4023360"/>
            <a:ext cx="1435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Bangla/English script, mid-call function-calling (Ph.2)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7955280" y="1965960"/>
            <a:ext cx="1709928" cy="3108960"/>
          </a:xfrm>
          <a:prstGeom prst="roundRect">
            <a:avLst>
              <a:gd name="adj" fmla="val 4278"/>
            </a:avLst>
          </a:prstGeom>
          <a:solidFill>
            <a:srgbClr val="12283C"/>
          </a:solidFill>
          <a:ln/>
        </p:spPr>
      </p:sp>
      <p:sp>
        <p:nvSpPr>
          <p:cNvPr id="29" name="Text 23"/>
          <p:cNvSpPr/>
          <p:nvPr/>
        </p:nvSpPr>
        <p:spPr>
          <a:xfrm>
            <a:off x="8065008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D5A7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30" name="Shape 24"/>
          <p:cNvSpPr/>
          <p:nvPr/>
        </p:nvSpPr>
        <p:spPr>
          <a:xfrm>
            <a:off x="8535924" y="2468880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31" name="Image 4" descr="/private/tmp/claude-501/-Users-sapumalthepulangoda-Documents/602537f8-4f42-4c2d-973d-985821580012/scratchpad/icons/cha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9368" y="2592324"/>
            <a:ext cx="301752" cy="30175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8092440" y="3200400"/>
            <a:ext cx="1435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End-of-call webhook returns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8092440" y="4023360"/>
            <a:ext cx="1435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Transcript, summary, outcome, recording, leadId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9784080" y="1965960"/>
            <a:ext cx="1709928" cy="3108960"/>
          </a:xfrm>
          <a:prstGeom prst="roundRect">
            <a:avLst>
              <a:gd name="adj" fmla="val 4278"/>
            </a:avLst>
          </a:prstGeom>
          <a:solidFill>
            <a:srgbClr val="0E7C7B"/>
          </a:solidFill>
          <a:ln/>
        </p:spPr>
      </p:sp>
      <p:sp>
        <p:nvSpPr>
          <p:cNvPr id="35" name="Text 28"/>
          <p:cNvSpPr/>
          <p:nvPr/>
        </p:nvSpPr>
        <p:spPr>
          <a:xfrm>
            <a:off x="9893808" y="205740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C5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500" dirty="0"/>
          </a:p>
        </p:txBody>
      </p:sp>
      <p:sp>
        <p:nvSpPr>
          <p:cNvPr id="36" name="Shape 29"/>
          <p:cNvSpPr/>
          <p:nvPr/>
        </p:nvSpPr>
        <p:spPr>
          <a:xfrm>
            <a:off x="10364724" y="2468880"/>
            <a:ext cx="548640" cy="54864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37" name="Image 5" descr="/private/tmp/claude-501/-Users-sapumalthepulangoda-Documents/602537f8-4f42-4c2d-973d-985821580012/scratchpad/icons/crm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488168" y="2592324"/>
            <a:ext cx="301752" cy="301752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921240" y="3200400"/>
            <a:ext cx="143560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Zoho CRM stage updated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9921240" y="4023360"/>
            <a:ext cx="1435608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writes stage + attempt + follow-up via API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640080" y="5349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CRM owns every downstream trigger (confirmations, nudges, disqualification) once the stage is written — exactly as Business Rule BR-10 requires.</a:t>
            </a:r>
            <a:endParaRPr lang="en-US" sz="1150" dirty="0"/>
          </a:p>
        </p:txBody>
      </p:sp>
      <p:sp>
        <p:nvSpPr>
          <p:cNvPr id="41" name="Text 33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Bangla decision — validate before you commit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PFEC's own “critical” must-have and pilot go/no-go gate. We recommend a cheap A/B test across three vendors before locking in production spend.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29000" cy="3520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63500" dist="25400" dir="5400000">
              <a:srgbClr val="1A243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23160"/>
            <a:ext cx="594360" cy="59436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7" name="Image 0" descr="/private/tmp/claude-501/-Users-sapumalthepulangoda-Documents/602537f8-4f42-4c2d-973d-985821580012/scratchpad/icons/langu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556891"/>
            <a:ext cx="326898" cy="32689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2286000" y="246888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0E7C7B"/>
          </a:solidFill>
          <a:ln/>
        </p:spPr>
      </p:sp>
      <p:sp>
        <p:nvSpPr>
          <p:cNvPr id="9" name="Text 6"/>
          <p:cNvSpPr/>
          <p:nvPr/>
        </p:nvSpPr>
        <p:spPr>
          <a:xfrm>
            <a:off x="2286000" y="24688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PICK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914400" y="3154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Azure AI Speech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914400" y="35204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bn-BD neural (Nabanita, Pradeep)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914400" y="3977640"/>
            <a:ext cx="2880360" cy="0"/>
          </a:xfrm>
          <a:prstGeom prst="line">
            <a:avLst/>
          </a:prstGeom>
          <a:noFill/>
          <a:ln w="12700">
            <a:solidFill>
              <a:srgbClr val="E2E8E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14400" y="416052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Dhaka dialect — closest match to real leads; enterprise SLA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297680" y="2148840"/>
            <a:ext cx="3429000" cy="3520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63500" dist="25400" dir="5400000">
              <a:srgbClr val="1A2430">
                <a:alpha val="1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2423160"/>
            <a:ext cx="594360" cy="594360"/>
          </a:xfrm>
          <a:prstGeom prst="ellipse">
            <a:avLst/>
          </a:prstGeom>
          <a:solidFill>
            <a:srgbClr val="12283C"/>
          </a:solidFill>
          <a:ln/>
        </p:spPr>
      </p:sp>
      <p:pic>
        <p:nvPicPr>
          <p:cNvPr id="16" name="Image 1" descr="/private/tmp/claude-501/-Users-sapumalthepulangoda-Documents/602537f8-4f42-4c2d-973d-985821580012/scratchpad/icons/glob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5731" y="2556891"/>
            <a:ext cx="326898" cy="326898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943600" y="246888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12283C"/>
          </a:solidFill>
          <a:ln/>
        </p:spPr>
      </p:sp>
      <p:sp>
        <p:nvSpPr>
          <p:cNvPr id="18" name="Text 14"/>
          <p:cNvSpPr/>
          <p:nvPr/>
        </p:nvSpPr>
        <p:spPr>
          <a:xfrm>
            <a:off x="5943600" y="24688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CANDIDATE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572000" y="3154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Sarvam AI</a:t>
            </a:r>
            <a:endParaRPr lang="en-US" sz="1550" dirty="0"/>
          </a:p>
        </p:txBody>
      </p:sp>
      <p:sp>
        <p:nvSpPr>
          <p:cNvPr id="20" name="Text 16"/>
          <p:cNvSpPr/>
          <p:nvPr/>
        </p:nvSpPr>
        <p:spPr>
          <a:xfrm>
            <a:off x="4572000" y="35204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Saarika STT + Bulbul v3 TTS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4572000" y="3977640"/>
            <a:ext cx="2880360" cy="0"/>
          </a:xfrm>
          <a:prstGeom prst="line">
            <a:avLst/>
          </a:prstGeom>
          <a:noFill/>
          <a:ln w="12700">
            <a:solidFill>
              <a:srgbClr val="E2E8EC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572000" y="416052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Indic code-switching; very low cost per minute</a:t>
            </a:r>
            <a:endParaRPr lang="en-US" sz="1150" dirty="0"/>
          </a:p>
        </p:txBody>
      </p:sp>
      <p:sp>
        <p:nvSpPr>
          <p:cNvPr id="23" name="Shape 19"/>
          <p:cNvSpPr/>
          <p:nvPr/>
        </p:nvSpPr>
        <p:spPr>
          <a:xfrm>
            <a:off x="7955280" y="2148840"/>
            <a:ext cx="3429000" cy="3520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63500" dist="25400" dir="5400000">
              <a:srgbClr val="1A243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229600" y="2423160"/>
            <a:ext cx="594360" cy="594360"/>
          </a:xfrm>
          <a:prstGeom prst="ellipse">
            <a:avLst/>
          </a:prstGeom>
          <a:solidFill>
            <a:srgbClr val="5B6B79"/>
          </a:solidFill>
          <a:ln/>
        </p:spPr>
      </p:sp>
      <p:pic>
        <p:nvPicPr>
          <p:cNvPr id="25" name="Image 2" descr="/private/tmp/claude-501/-Users-sapumalthepulangoda-Documents/602537f8-4f42-4c2d-973d-985821580012/scratchpad/icons/mi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3331" y="2556891"/>
            <a:ext cx="326898" cy="326898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9601200" y="2468880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5B6B79"/>
          </a:solidFill>
          <a:ln/>
        </p:spPr>
      </p:sp>
      <p:sp>
        <p:nvSpPr>
          <p:cNvPr id="27" name="Text 22"/>
          <p:cNvSpPr/>
          <p:nvPr/>
        </p:nvSpPr>
        <p:spPr>
          <a:xfrm>
            <a:off x="9601200" y="2468880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STT COMPANION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8229600" y="3154680"/>
            <a:ext cx="2880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Deepgram Nova-3</a:t>
            </a:r>
            <a:endParaRPr lang="en-US" sz="1550" dirty="0"/>
          </a:p>
        </p:txBody>
      </p:sp>
      <p:sp>
        <p:nvSpPr>
          <p:cNvPr id="29" name="Text 24"/>
          <p:cNvSpPr/>
          <p:nvPr/>
        </p:nvSpPr>
        <p:spPr>
          <a:xfrm>
            <a:off x="8229600" y="35204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 STT added Jan 2026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8229600" y="3977640"/>
            <a:ext cx="2880360" cy="0"/>
          </a:xfrm>
          <a:prstGeom prst="line">
            <a:avLst/>
          </a:prstGeom>
          <a:noFill/>
          <a:ln w="12700">
            <a:solidFill>
              <a:srgbClr val="E2E8EC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8229600" y="416052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 the English-heavy legs of a code-switched call</a:t>
            </a:r>
            <a:endParaRPr lang="en-US" sz="1150" dirty="0"/>
          </a:p>
        </p:txBody>
      </p:sp>
      <p:sp>
        <p:nvSpPr>
          <p:cNvPr id="32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FEASIBILITY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Six platforms evaluated against PFEC's must-haves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017520" cy="502920"/>
          </a:xfrm>
          <a:prstGeom prst="rect">
            <a:avLst/>
          </a:prstGeom>
          <a:solidFill>
            <a:srgbClr val="12283C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91640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657600" y="1691640"/>
            <a:ext cx="1371600" cy="502920"/>
          </a:xfrm>
          <a:prstGeom prst="rect">
            <a:avLst/>
          </a:prstGeom>
          <a:solidFill>
            <a:srgbClr val="12283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0" y="1691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0" y="1691640"/>
            <a:ext cx="1371600" cy="502920"/>
          </a:xfrm>
          <a:prstGeom prst="rect">
            <a:avLst/>
          </a:prstGeom>
          <a:solidFill>
            <a:srgbClr val="12283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0" y="16916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BYO-SIP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1554480" cy="502920"/>
          </a:xfrm>
          <a:prstGeom prst="rect">
            <a:avLst/>
          </a:prstGeom>
          <a:solidFill>
            <a:srgbClr val="12283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0" y="1691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+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55280" y="1691640"/>
            <a:ext cx="1554480" cy="502920"/>
          </a:xfrm>
          <a:prstGeom prst="rect">
            <a:avLst/>
          </a:prstGeom>
          <a:solidFill>
            <a:srgbClr val="12283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16916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Fn-calling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(Ph.2)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509760" y="1691640"/>
            <a:ext cx="2039112" cy="502920"/>
          </a:xfrm>
          <a:prstGeom prst="rect">
            <a:avLst/>
          </a:prstGeom>
          <a:solidFill>
            <a:srgbClr val="12283C"/>
          </a:solidFill>
          <a:ln/>
        </p:spPr>
      </p:sp>
      <p:sp>
        <p:nvSpPr>
          <p:cNvPr id="15" name="Text 13"/>
          <p:cNvSpPr/>
          <p:nvPr/>
        </p:nvSpPr>
        <p:spPr>
          <a:xfrm>
            <a:off x="9509760" y="1691640"/>
            <a:ext cx="20391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194560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194560"/>
            <a:ext cx="30175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Vapi + Azure/Sarvam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0" y="2194560"/>
            <a:ext cx="1371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19456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0" y="2194560"/>
            <a:ext cx="1371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219456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0" y="2194560"/>
            <a:ext cx="1554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1945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2194560"/>
            <a:ext cx="1554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219456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509760" y="2194560"/>
            <a:ext cx="2039112" cy="530352"/>
          </a:xfrm>
          <a:prstGeom prst="rect">
            <a:avLst/>
          </a:prstGeom>
          <a:solidFill>
            <a:srgbClr val="E4F3F2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0" y="2194560"/>
            <a:ext cx="2039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C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2724912"/>
            <a:ext cx="301752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724912"/>
            <a:ext cx="30175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Retell AI + Azure/Sarvam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0" y="2724912"/>
            <a:ext cx="137160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0" y="272491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0" y="2724912"/>
            <a:ext cx="137160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0" y="272491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0" y="2724912"/>
            <a:ext cx="155448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7249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7955280" y="2724912"/>
            <a:ext cx="155448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55280" y="2724912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509760" y="2724912"/>
            <a:ext cx="2039112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09760" y="2724912"/>
            <a:ext cx="2039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ALT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3255264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255264"/>
            <a:ext cx="30175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Bland.ai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3657600" y="3255264"/>
            <a:ext cx="1371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0" y="325526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5029200" y="3255264"/>
            <a:ext cx="1371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29200" y="325526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6400800" y="3255264"/>
            <a:ext cx="1554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400800" y="325526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7955280" y="3255264"/>
            <a:ext cx="1554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955280" y="3255264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9509760" y="3255264"/>
            <a:ext cx="203911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509760" y="3255264"/>
            <a:ext cx="2039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BANGLA RISK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640080" y="3785616"/>
            <a:ext cx="301752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3785616"/>
            <a:ext cx="30175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Bolna AI (India-native)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3657600" y="3785616"/>
            <a:ext cx="137160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657600" y="378561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5029200" y="3785616"/>
            <a:ext cx="137160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029200" y="3785616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6400800" y="3785616"/>
            <a:ext cx="155448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0" y="378561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7955280" y="3785616"/>
            <a:ext cx="155448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955280" y="3785616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9509760" y="3785616"/>
            <a:ext cx="2039112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509760" y="3785616"/>
            <a:ext cx="2039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OPTION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640080" y="4315968"/>
            <a:ext cx="301752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0080" y="4315968"/>
            <a:ext cx="30175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Gnani.ai (enterprise)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657600" y="4315968"/>
            <a:ext cx="1371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0" y="431596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029200" y="4315968"/>
            <a:ext cx="13716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29200" y="4315968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879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△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400800" y="4315968"/>
            <a:ext cx="1554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400800" y="431596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955280" y="4315968"/>
            <a:ext cx="1554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55280" y="4315968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9509760" y="4315968"/>
            <a:ext cx="2039112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509760" y="4315968"/>
            <a:ext cx="2039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228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40080" y="4846320"/>
            <a:ext cx="301752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0080" y="4846320"/>
            <a:ext cx="3017520" cy="53035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custom build</a:t>
            </a:r>
            <a:endParaRPr lang="en-US" sz="1100" dirty="0"/>
          </a:p>
        </p:txBody>
      </p:sp>
      <p:sp>
        <p:nvSpPr>
          <p:cNvPr id="78" name="Shape 76"/>
          <p:cNvSpPr/>
          <p:nvPr/>
        </p:nvSpPr>
        <p:spPr>
          <a:xfrm>
            <a:off x="3657600" y="4846320"/>
            <a:ext cx="137160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657600" y="48463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5029200" y="4846320"/>
            <a:ext cx="137160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5029200" y="48463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6400800" y="4846320"/>
            <a:ext cx="155448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400800" y="484632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7955280" y="4846320"/>
            <a:ext cx="1554480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955280" y="4846320"/>
            <a:ext cx="1554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7D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9509760" y="4846320"/>
            <a:ext cx="2039112" cy="530352"/>
          </a:xfrm>
          <a:prstGeom prst="rect">
            <a:avLst/>
          </a:prstGeom>
          <a:solidFill>
            <a:srgbClr val="F3F6F8"/>
          </a:solidFill>
          <a:ln w="6350">
            <a:solidFill>
              <a:srgbClr val="E2E8EC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509760" y="4846320"/>
            <a:ext cx="203911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200" dirty="0"/>
          </a:p>
        </p:txBody>
      </p:sp>
      <p:sp>
        <p:nvSpPr>
          <p:cNvPr id="88" name="Text 86"/>
          <p:cNvSpPr/>
          <p:nvPr/>
        </p:nvSpPr>
        <p:spPr>
          <a:xfrm>
            <a:off x="640080" y="5559552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meets requirement    △ partial / needs validation — full detail in the written proposal, Section 5</a:t>
            </a:r>
            <a:endParaRPr lang="en-US" sz="1050" dirty="0"/>
          </a:p>
        </p:txBody>
      </p:sp>
      <p:sp>
        <p:nvSpPr>
          <p:cNvPr id="89" name="Text 8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2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FEASIBILITY STUDY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questions PFEC will ask us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908792" cy="2148840"/>
          </a:xfrm>
          <a:prstGeom prst="roundRect">
            <a:avLst>
              <a:gd name="adj" fmla="val 4255"/>
            </a:avLst>
          </a:prstGeom>
          <a:solidFill>
            <a:srgbClr val="1B3A5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01168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6" name="Image 0" descr="/private/tmp/claude-501/-Users-sapumalthepulangoda-Documents/602537f8-4f42-4c2d-973d-985821580012/scratchpad/icons/ques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8131" y="2145411"/>
            <a:ext cx="326898" cy="32689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189280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“We already looked at Bland.ai — why not just use it?”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691640" y="242316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Bland is fast and low-latency, but it's a closed platform: you use its own speech stack rather than swapping in a Bangla specialist, and public docs are inconsistent on native Bengali support outside enterprise BYOK deals. Given Bangla quality is PFEC's own go/no-go gate, we're not comfortable betting the pilot on it without a confirmed enterprise call — it stays on the shortlist as a fallback.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0080" y="4114800"/>
            <a:ext cx="10908792" cy="2148840"/>
          </a:xfrm>
          <a:prstGeom prst="roundRect">
            <a:avLst>
              <a:gd name="adj" fmla="val 4255"/>
            </a:avLst>
          </a:prstGeom>
          <a:solidFill>
            <a:srgbClr val="1B3A54"/>
          </a:solidFill>
          <a:ln/>
        </p:spPr>
      </p:sp>
      <p:sp>
        <p:nvSpPr>
          <p:cNvPr id="10" name="Shape 7"/>
          <p:cNvSpPr/>
          <p:nvPr/>
        </p:nvSpPr>
        <p:spPr>
          <a:xfrm>
            <a:off x="914400" y="4434840"/>
            <a:ext cx="594360" cy="59436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11" name="Image 1" descr="/private/tmp/claude-501/-Users-sapumalthepulangoda-Documents/602537f8-4f42-4c2d-973d-985821580012/scratchpad/icons/questi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131" y="4568571"/>
            <a:ext cx="326898" cy="32689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91640" y="4315968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“Why not just build everything in-house for full control?”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691640" y="4846320"/>
            <a:ext cx="9601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custom build (Twilio + hand-rolled STT/LLM/TTS) gives PFEC zero vendor lock-in, but industry data puts that at 8–16 weeks and $35,000–$150,000+ before any Zoho work. That's the wrong first move for a program whose immediate goal is a fast, cheap, 200–300-lead pilot. We've scoped it as an optional Phase 3, once volume justifies it.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ZOHO CRM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Zapier-free, by construction — not by promise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212080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63500" dist="25400" dir="5400000">
              <a:srgbClr val="1A243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874520"/>
            <a:ext cx="548640" cy="548640"/>
          </a:xfrm>
          <a:prstGeom prst="ellipse">
            <a:avLst/>
          </a:prstGeom>
          <a:solidFill>
            <a:srgbClr val="12283C"/>
          </a:solidFill>
          <a:ln/>
        </p:spPr>
      </p:sp>
      <p:pic>
        <p:nvPicPr>
          <p:cNvPr id="6" name="Image 0" descr="/private/tmp/claude-501/-Users-sapumalthepulangoda-Documents/602537f8-4f42-4c2d-973d-985821580012/scratchpad/icons/site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7844" y="19979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92024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use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2514600"/>
            <a:ext cx="46634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CRM Workflow Rules + native Instant Webhooks → middleware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Deluge custom functions for any in-CRM logic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CRM REST API for stage / attempt / appointment write-back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✓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Zoho CRM's own automation for Email + WhatsApp triggers on stage change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309360" y="1600200"/>
            <a:ext cx="5239512" cy="402336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  <a:effectLst>
            <a:outerShdw sx="100000" sy="100000" kx="0" ky="0" algn="bl" rotWithShape="0" blurRad="63500" dist="25400" dir="5400000">
              <a:srgbClr val="1A243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1874520"/>
            <a:ext cx="548640" cy="548640"/>
          </a:xfrm>
          <a:prstGeom prst="ellipse">
            <a:avLst/>
          </a:prstGeom>
          <a:solidFill>
            <a:srgbClr val="B3432E"/>
          </a:solidFill>
          <a:ln/>
        </p:spPr>
      </p:sp>
      <p:pic>
        <p:nvPicPr>
          <p:cNvPr id="11" name="Image 1" descr="/private/tmp/claude-501/-Users-sapumalthepulangoda-Documents/602537f8-4f42-4c2d-973d-985821580012/scratchpad/icons/warnin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124" y="19979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192024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 deliberately avoid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6583680" y="2514600"/>
            <a:ext cx="47548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 for lead handoff, call triggering, or stage sync (explicitly out of scope, BRD §3.2)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generic iPaaS as the system of record for retry logic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Voice-platform-side WhatsApp/Email sending — Zoho stays the single owner (BR-10)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✗"/>
            </a:pPr>
            <a:r>
              <a:rPr lang="en-US" sz="1200" dirty="0">
                <a:solidFill>
                  <a:srgbClr val="1A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Hard-coded visa/migration content in the voice script — it lives in a PFEC-governed knowledge base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ZOHO CRM INTEGRATION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11-stage lead lifecycle the middleware enforces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1828800" cy="822960"/>
          </a:xfrm>
          <a:prstGeom prst="roundRect">
            <a:avLst>
              <a:gd name="adj" fmla="val 8889"/>
            </a:avLst>
          </a:prstGeom>
          <a:solidFill>
            <a:srgbClr val="5B6B79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2194560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Yet Contacted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468880" y="219456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697480" y="2194560"/>
            <a:ext cx="2834640" cy="822960"/>
          </a:xfrm>
          <a:prstGeom prst="roundRect">
            <a:avLst>
              <a:gd name="adj" fmla="val 8889"/>
            </a:avLst>
          </a:prstGeom>
          <a:solidFill>
            <a:srgbClr val="12283C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0" y="219456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1st–7th Contact Attempted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532120" y="219456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60720" y="21945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2A65A"/>
          </a:solidFill>
          <a:ln/>
        </p:spPr>
      </p:sp>
      <p:sp>
        <p:nvSpPr>
          <p:cNvPr id="11" name="Text 9"/>
          <p:cNvSpPr/>
          <p:nvPr/>
        </p:nvSpPr>
        <p:spPr>
          <a:xfrm>
            <a:off x="5806440" y="21945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Contact Interested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0" y="219456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092440" y="219456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2E7D53"/>
          </a:solidFill>
          <a:ln/>
        </p:spPr>
      </p:sp>
      <p:sp>
        <p:nvSpPr>
          <p:cNvPr id="14" name="Text 12"/>
          <p:cNvSpPr/>
          <p:nvPr/>
        </p:nvSpPr>
        <p:spPr>
          <a:xfrm>
            <a:off x="8138160" y="2194560"/>
            <a:ext cx="2011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 Booked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195560" y="2194560"/>
            <a:ext cx="228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B6B7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424160" y="219456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B3432E"/>
          </a:solidFill>
          <a:ln/>
        </p:spPr>
      </p:sp>
      <p:sp>
        <p:nvSpPr>
          <p:cNvPr id="17" name="Text 15"/>
          <p:cNvSpPr/>
          <p:nvPr/>
        </p:nvSpPr>
        <p:spPr>
          <a:xfrm>
            <a:off x="10469880" y="2194560"/>
            <a:ext cx="1645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Disqualified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329184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1st – 7th Contact Attempted runs over 5 configurable days; the 7th unanswered attempt auto-disqualifies with reason “No Response After 7 Attempts.”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40080" y="4023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4F3F2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41879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BR-05 / BR-06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68680" y="4526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4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+ interested → In Contact Interested; books → Appointment Booked (retries stop)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425696" y="4023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4F3F2"/>
          </a:solidFill>
          <a:ln/>
        </p:spPr>
      </p:sp>
      <p:sp>
        <p:nvSpPr>
          <p:cNvPr id="23" name="Text 21"/>
          <p:cNvSpPr/>
          <p:nvPr/>
        </p:nvSpPr>
        <p:spPr>
          <a:xfrm>
            <a:off x="4654296" y="41879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BR-07 / BR-08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654296" y="4526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4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Declines → Disqualified (Not Interested); unreachable after 7 → Disqualified (No Response)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11312" y="402336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E4F3F2"/>
          </a:solidFill>
          <a:ln/>
        </p:spPr>
      </p:sp>
      <p:sp>
        <p:nvSpPr>
          <p:cNvPr id="26" name="Text 24"/>
          <p:cNvSpPr/>
          <p:nvPr/>
        </p:nvSpPr>
        <p:spPr>
          <a:xfrm>
            <a:off x="8439912" y="418795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BR-09 / BR-10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39912" y="4526280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F4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further AI retries once Booked/Disqualified; Zoho CRM owns all downstream messaging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Warmer → Phase 2 Full Agent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709928" cy="1965960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37360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965960"/>
            <a:ext cx="1709928" cy="228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49808" y="2331720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Discovery &amp; design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2926080"/>
            <a:ext cx="1490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field mapping, script v1, stage rules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68880" y="1737360"/>
            <a:ext cx="1709928" cy="1965960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468880" y="1737360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/>
        </p:spPr>
      </p:sp>
      <p:sp>
        <p:nvSpPr>
          <p:cNvPr id="12" name="Shape 10"/>
          <p:cNvSpPr/>
          <p:nvPr/>
        </p:nvSpPr>
        <p:spPr>
          <a:xfrm>
            <a:off x="2468880" y="1965960"/>
            <a:ext cx="1709928" cy="228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3" name="Text 11"/>
          <p:cNvSpPr/>
          <p:nvPr/>
        </p:nvSpPr>
        <p:spPr>
          <a:xfrm>
            <a:off x="2468880" y="1737360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78608" y="2331720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&amp; speech setup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78608" y="2926080"/>
            <a:ext cx="1490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BYO-SIP live, Bangla A/B configured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97680" y="1737360"/>
            <a:ext cx="1709928" cy="1965960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97680" y="1737360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/>
        </p:spPr>
      </p:sp>
      <p:sp>
        <p:nvSpPr>
          <p:cNvPr id="18" name="Shape 16"/>
          <p:cNvSpPr/>
          <p:nvPr/>
        </p:nvSpPr>
        <p:spPr>
          <a:xfrm>
            <a:off x="4297680" y="1965960"/>
            <a:ext cx="1709928" cy="228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0" y="1737360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07408" y="2331720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Zoho CRM configuration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407408" y="2926080"/>
            <a:ext cx="1490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Fields, Workflow Rules, webhooks — no Zapier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126480" y="1737360"/>
            <a:ext cx="1709928" cy="1965960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26480" y="1737360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/>
        </p:spPr>
      </p:sp>
      <p:sp>
        <p:nvSpPr>
          <p:cNvPr id="24" name="Shape 22"/>
          <p:cNvSpPr/>
          <p:nvPr/>
        </p:nvSpPr>
        <p:spPr>
          <a:xfrm>
            <a:off x="6126480" y="1965960"/>
            <a:ext cx="1709928" cy="228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737360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36208" y="2331720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build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2926080"/>
            <a:ext cx="1490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receiver, write-back, retry scheduler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955280" y="1737360"/>
            <a:ext cx="1709928" cy="1965960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55280" y="1737360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/>
        </p:spPr>
      </p:sp>
      <p:sp>
        <p:nvSpPr>
          <p:cNvPr id="30" name="Shape 28"/>
          <p:cNvSpPr/>
          <p:nvPr/>
        </p:nvSpPr>
        <p:spPr>
          <a:xfrm>
            <a:off x="7955280" y="1965960"/>
            <a:ext cx="1709928" cy="228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1" name="Text 29"/>
          <p:cNvSpPr/>
          <p:nvPr/>
        </p:nvSpPr>
        <p:spPr>
          <a:xfrm>
            <a:off x="7955280" y="1737360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065008" y="2331720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 + Bangla review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65008" y="2926080"/>
            <a:ext cx="1490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Native-speaker review, end-to-end test calls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9784080" y="1737360"/>
            <a:ext cx="1709928" cy="1965960"/>
          </a:xfrm>
          <a:prstGeom prst="roundRect">
            <a:avLst>
              <a:gd name="adj" fmla="val 4278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784080" y="1737360"/>
            <a:ext cx="1709928" cy="457200"/>
          </a:xfrm>
          <a:prstGeom prst="roundRect">
            <a:avLst>
              <a:gd name="adj" fmla="val 16000"/>
            </a:avLst>
          </a:prstGeom>
          <a:solidFill>
            <a:srgbClr val="0E7C7B"/>
          </a:solidFill>
          <a:ln/>
        </p:spPr>
      </p:sp>
      <p:sp>
        <p:nvSpPr>
          <p:cNvPr id="36" name="Shape 34"/>
          <p:cNvSpPr/>
          <p:nvPr/>
        </p:nvSpPr>
        <p:spPr>
          <a:xfrm>
            <a:off x="9784080" y="1965960"/>
            <a:ext cx="1709928" cy="228600"/>
          </a:xfrm>
          <a:prstGeom prst="rect">
            <a:avLst/>
          </a:prstGeom>
          <a:solidFill>
            <a:srgbClr val="0E7C7B"/>
          </a:solidFill>
          <a:ln/>
        </p:spPr>
      </p:sp>
      <p:sp>
        <p:nvSpPr>
          <p:cNvPr id="37" name="Text 35"/>
          <p:cNvSpPr/>
          <p:nvPr/>
        </p:nvSpPr>
        <p:spPr>
          <a:xfrm>
            <a:off x="9784080" y="1737360"/>
            <a:ext cx="1709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9893808" y="2331720"/>
            <a:ext cx="149047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Pilot: 200–300 leads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893808" y="2926080"/>
            <a:ext cx="1490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PFEC's own go/no-go criteria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40080" y="3977640"/>
            <a:ext cx="10908792" cy="1737360"/>
          </a:xfrm>
          <a:prstGeom prst="roundRect">
            <a:avLst>
              <a:gd name="adj" fmla="val 5263"/>
            </a:avLst>
          </a:prstGeom>
          <a:solidFill>
            <a:srgbClr val="12283C"/>
          </a:solidFill>
          <a:ln/>
        </p:spPr>
      </p:sp>
      <p:sp>
        <p:nvSpPr>
          <p:cNvPr id="41" name="Shape 39"/>
          <p:cNvSpPr/>
          <p:nvPr/>
        </p:nvSpPr>
        <p:spPr>
          <a:xfrm>
            <a:off x="914400" y="4279392"/>
            <a:ext cx="640080" cy="640080"/>
          </a:xfrm>
          <a:prstGeom prst="ellipse">
            <a:avLst/>
          </a:prstGeom>
          <a:solidFill>
            <a:srgbClr val="F2A65A"/>
          </a:solidFill>
          <a:ln/>
        </p:spPr>
      </p:sp>
      <p:pic>
        <p:nvPicPr>
          <p:cNvPr id="42" name="Image 0" descr="/private/tmp/claude-501/-Users-sapumalthepulangoda-Documents/602537f8-4f42-4c2d-973d-985821580012/scratchpad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418" y="4423410"/>
            <a:ext cx="352044" cy="352044"/>
          </a:xfrm>
          <a:prstGeom prst="rect">
            <a:avLst/>
          </a:prstGeom>
        </p:spPr>
      </p:pic>
      <p:sp>
        <p:nvSpPr>
          <p:cNvPr id="43" name="Text 40"/>
          <p:cNvSpPr/>
          <p:nvPr/>
        </p:nvSpPr>
        <p:spPr>
          <a:xfrm>
            <a:off x="1737360" y="416052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Full Agent (weeks 7–12, after the pilot clears go/no-go)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1737360" y="4572000"/>
            <a:ext cx="9509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D8E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Mid-call function-calling for live booking  •  Migration knowledge base (RAG), governed by PFEC  •  WhatsApp Business API wired to Zoho CRM  •  Full BRD §12 reporting dashboard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Pilot, mapped to PFEC's own success criteria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E4F3F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9339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/private/tmp/claude-501/-Users-sapumalthepulangoda-Documents/602537f8-4f42-4c2d-973d-985821580012/scratchpad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837" y="2106549"/>
            <a:ext cx="276606" cy="27660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9385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Answered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868680" y="26517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4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÷ total dialed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E4F3F2"/>
          </a:solidFill>
          <a:ln/>
        </p:spPr>
      </p:sp>
      <p:sp>
        <p:nvSpPr>
          <p:cNvPr id="10" name="Shape 7"/>
          <p:cNvSpPr/>
          <p:nvPr/>
        </p:nvSpPr>
        <p:spPr>
          <a:xfrm>
            <a:off x="4526280" y="199339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/private/tmp/claude-501/-Users-sapumalthepulangoda-Documents/602537f8-4f42-4c2d-973d-985821580012/scratchpad/icons/languag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9437" y="2106549"/>
            <a:ext cx="276606" cy="27660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66360" y="19385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Bangla-completed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4526280" y="26517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4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Native-speaker recording review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955280" y="1737360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E4F3F2"/>
          </a:solidFill>
          <a:ln/>
        </p:spPr>
      </p:sp>
      <p:sp>
        <p:nvSpPr>
          <p:cNvPr id="15" name="Shape 11"/>
          <p:cNvSpPr/>
          <p:nvPr/>
        </p:nvSpPr>
        <p:spPr>
          <a:xfrm>
            <a:off x="8183880" y="1993392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/private/tmp/claude-501/-Users-sapumalthepulangoda-Documents/602537f8-4f42-4c2d-973d-985821580012/scratchpad/icons/targe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7037" y="2106549"/>
            <a:ext cx="276606" cy="27660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823960" y="1938528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% Marked Warm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8183880" y="265176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4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+ Booked ÷ connected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3685032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E4F3F2"/>
          </a:solidFill>
          <a:ln/>
        </p:spPr>
      </p:sp>
      <p:sp>
        <p:nvSpPr>
          <p:cNvPr id="20" name="Shape 15"/>
          <p:cNvSpPr/>
          <p:nvPr/>
        </p:nvSpPr>
        <p:spPr>
          <a:xfrm>
            <a:off x="868680" y="3941064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1" name="Image 3" descr="/private/tmp/claude-501/-Users-sapumalthepulangoda-Documents/602537f8-4f42-4c2d-973d-985821580012/scratchpad/icons/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1837" y="4054221"/>
            <a:ext cx="276606" cy="27660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08760" y="3886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Counselor conversion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868680" y="45994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4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 ÷ In Contact Interested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297680" y="3685032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E4F3F2"/>
          </a:solidFill>
          <a:ln/>
        </p:spPr>
      </p:sp>
      <p:sp>
        <p:nvSpPr>
          <p:cNvPr id="25" name="Shape 19"/>
          <p:cNvSpPr/>
          <p:nvPr/>
        </p:nvSpPr>
        <p:spPr>
          <a:xfrm>
            <a:off x="4526280" y="3941064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26" name="Image 4" descr="/private/tmp/claude-501/-Users-sapumalthepulangoda-Documents/602537f8-4f42-4c2d-973d-985821580012/scratchpad/icons/co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9437" y="4054221"/>
            <a:ext cx="276606" cy="27660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66360" y="3886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per warm lead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4526280" y="45994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4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spend ÷ Warm-stage leads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955280" y="3685032"/>
            <a:ext cx="3429000" cy="1691640"/>
          </a:xfrm>
          <a:prstGeom prst="roundRect">
            <a:avLst>
              <a:gd name="adj" fmla="val 4324"/>
            </a:avLst>
          </a:prstGeom>
          <a:solidFill>
            <a:srgbClr val="E4F3F2"/>
          </a:solidFill>
          <a:ln/>
        </p:spPr>
      </p:sp>
      <p:sp>
        <p:nvSpPr>
          <p:cNvPr id="30" name="Shape 23"/>
          <p:cNvSpPr/>
          <p:nvPr/>
        </p:nvSpPr>
        <p:spPr>
          <a:xfrm>
            <a:off x="8183880" y="3941064"/>
            <a:ext cx="502920" cy="5029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1" name="Image 5" descr="/private/tmp/claude-501/-Users-sapumalthepulangoda-Documents/602537f8-4f42-4c2d-973d-985821580012/scratchpad/icons/warn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7037" y="4054221"/>
            <a:ext cx="276606" cy="27660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823960" y="388620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47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Hang-up / complaint rate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8183880" y="45994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F4E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calls + logged feedback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40080" y="5678424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no-go: more appointments per counselor-hour than cold calling, and acceptable Bangla quality on recording review — PFEC's own bar, unchanged.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COST ESTIMATE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Indicative cost — build once, scale with usage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One-time implementation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0391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1 — Warmer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822960" y="23682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0" y="19659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$9,000 – $16,000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2880360"/>
            <a:ext cx="521208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953512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 2 — Full Agent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328269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4–6 weeks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931920" y="28803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$11,000 – $20,000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5212080" cy="640080"/>
          </a:xfrm>
          <a:prstGeom prst="roundRect">
            <a:avLst>
              <a:gd name="adj" fmla="val 8571"/>
            </a:avLst>
          </a:prstGeom>
          <a:solidFill>
            <a:srgbClr val="12283C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886200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Total, Phase 1 + 2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931920" y="38862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F2A65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$20,000 – $36,000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309360" y="155448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running cost (voice AI usage)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1965960"/>
            <a:ext cx="523951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20391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Pilot (200–300 leads)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492240" y="23682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500–750 min blended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464040" y="19659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$75 – $225 (one-time)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309360" y="2880360"/>
            <a:ext cx="523951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9535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Early production (~1,000 leads/mo)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92240" y="32826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2.5k–3.5k min blended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464040" y="28803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$375 – $1,050 / mo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3794760"/>
            <a:ext cx="5239512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386791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Scaled production (~5,000 leads/mo)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92240" y="4197096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12k–16k min blended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464040" y="379476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0E7C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$1,800 – $4,800 / mo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309360" y="4846320"/>
            <a:ext cx="523951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middleware hosting ~$50–150/mo • WhatsApp API ~$50–300/mo (Phase 2) • optional tuning retainer $800–2,000/mo. Zoho CRM licensing assumed already in place.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40080" y="6263640"/>
            <a:ext cx="10881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Indicative planning figures based on public vendor pricing, July 2026 — to be firmed into a formal SOW after discovery.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RISKS &amp; ASSUMPTIONS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flag before you sign off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7F9FB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920240"/>
            <a:ext cx="457200" cy="457200"/>
          </a:xfrm>
          <a:prstGeom prst="ellipse">
            <a:avLst/>
          </a:prstGeom>
          <a:solidFill>
            <a:srgbClr val="B3432E"/>
          </a:solidFill>
          <a:ln/>
        </p:spPr>
      </p:sp>
      <p:pic>
        <p:nvPicPr>
          <p:cNvPr id="6" name="Image 0" descr="/private/tmp/claude-501/-Users-sapumalthepulangoda-Documents/602537f8-4f42-4c2d-973d-985821580012/scratchpad/icons/langu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2034540"/>
            <a:ext cx="228600" cy="2286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74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Bangla dialect accuracy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68680" y="2560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vendors tune for bn-IN, not bn-BD — mitigated by the pilot A/B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297680" y="169164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7F9FB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526280" y="1920240"/>
            <a:ext cx="457200" cy="457200"/>
          </a:xfrm>
          <a:prstGeom prst="ellipse">
            <a:avLst/>
          </a:prstGeom>
          <a:solidFill>
            <a:srgbClr val="B3432E"/>
          </a:solidFill>
          <a:ln/>
        </p:spPr>
      </p:sp>
      <p:pic>
        <p:nvPicPr>
          <p:cNvPr id="11" name="Image 1" descr="/private/tmp/claude-501/-Users-sapumalthepulangoda-Documents/602537f8-4f42-4c2d-973d-985821580012/scratchpad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0580" y="203454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120640" y="1874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residency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4526280" y="2560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Recordings carry student PII; confirm policy, use regional hosting where offered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955280" y="1691640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7F9FB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183880" y="1920240"/>
            <a:ext cx="457200" cy="457200"/>
          </a:xfrm>
          <a:prstGeom prst="ellipse">
            <a:avLst/>
          </a:prstGeom>
          <a:solidFill>
            <a:srgbClr val="B3432E"/>
          </a:solidFill>
          <a:ln/>
        </p:spPr>
      </p:sp>
      <p:pic>
        <p:nvPicPr>
          <p:cNvPr id="16" name="Image 2" descr="/private/tmp/claude-501/-Users-sapumalthepulangoda-Documents/602537f8-4f42-4c2d-973d-985821580012/scratchpad/icons/crm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180" y="203454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778240" y="1874520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Zoho CRM edition/API limits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8183880" y="256032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Rules + webhooks need a sufficient edition — confirm week 1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40080" y="3547872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7F9FB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68680" y="3776472"/>
            <a:ext cx="457200" cy="457200"/>
          </a:xfrm>
          <a:prstGeom prst="ellipse">
            <a:avLst/>
          </a:prstGeom>
          <a:solidFill>
            <a:srgbClr val="B3432E"/>
          </a:solidFill>
          <a:ln/>
        </p:spPr>
      </p:sp>
      <p:pic>
        <p:nvPicPr>
          <p:cNvPr id="21" name="Image 3" descr="/private/tmp/claude-501/-Users-sapumalthepulangoda-Documents/602537f8-4f42-4c2d-973d-985821580012/scratchpad/icons/whatsap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" y="3890772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463040" y="37307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WhatsApp channel ownership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68680" y="441655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native Zoho channel — direct Meta Cloud API vs. a BSP, decided in Ph.2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297680" y="3547872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7F9FB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526280" y="3776472"/>
            <a:ext cx="457200" cy="457200"/>
          </a:xfrm>
          <a:prstGeom prst="ellipse">
            <a:avLst/>
          </a:prstGeom>
          <a:solidFill>
            <a:srgbClr val="B3432E"/>
          </a:solidFill>
          <a:ln/>
        </p:spPr>
      </p:sp>
      <p:pic>
        <p:nvPicPr>
          <p:cNvPr id="26" name="Image 4" descr="/private/tmp/claude-501/-Users-sapumalthepulangoda-Documents/602537f8-4f42-4c2d-973d-985821580012/scratchpad/icons/checklis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0580" y="3890772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120640" y="37307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Migration content governance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4526280" y="441655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Visa talking points must be PFEC-approved before Phase 2 go-live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7955280" y="3547872"/>
            <a:ext cx="3429000" cy="1600200"/>
          </a:xfrm>
          <a:prstGeom prst="roundRect">
            <a:avLst>
              <a:gd name="adj" fmla="val 4571"/>
            </a:avLst>
          </a:prstGeom>
          <a:solidFill>
            <a:srgbClr val="F7F9FB"/>
          </a:solidFill>
          <a:ln w="12700">
            <a:solidFill>
              <a:srgbClr val="DCE4E9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8183880" y="3776472"/>
            <a:ext cx="457200" cy="457200"/>
          </a:xfrm>
          <a:prstGeom prst="ellipse">
            <a:avLst/>
          </a:prstGeom>
          <a:solidFill>
            <a:srgbClr val="B3432E"/>
          </a:solidFill>
          <a:ln/>
        </p:spPr>
      </p:sp>
      <p:pic>
        <p:nvPicPr>
          <p:cNvPr id="31" name="Image 5" descr="/private/tmp/claude-501/-Users-sapumalthepulangoda-Documents/602537f8-4f42-4c2d-973d-985821580012/scratchpad/icons/cos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180" y="3890772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778240" y="3730752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Vendor pricing volatility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8183880" y="441655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5B6B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usage-based, not fixed-commitment, wherever possible</a:t>
            </a:r>
            <a:endParaRPr lang="en-US" sz="1000" dirty="0"/>
          </a:p>
        </p:txBody>
      </p:sp>
      <p:sp>
        <p:nvSpPr>
          <p:cNvPr id="34" name="Text 26"/>
          <p:cNvSpPr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7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8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A6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11430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Let's de-risk Bangla quality first, then build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22960" y="2148840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463040" y="216712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discovery call — confirm Zoho CRM edition &amp; BYO-SIP details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22960" y="2807208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80720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63040" y="282549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1 scope and budget range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22960" y="3465576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655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63040" y="348386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 the Bangla + English script v1 with PFEC's counseling team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123944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239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63040" y="414223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Azure vs. Sarvam vs. Deepgram Bangla A/B alongside CRM setup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22960" y="4782312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7823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63040" y="48006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E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200–300-lead pilot and review against go/no-go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22960" y="5806440"/>
            <a:ext cx="10424160" cy="0"/>
          </a:xfrm>
          <a:prstGeom prst="line">
            <a:avLst/>
          </a:prstGeom>
          <a:noFill/>
          <a:ln w="12700">
            <a:solidFill>
              <a:srgbClr val="1B3A5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PFEC Global × AI Technology Consulting Engagement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59893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8FA3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0E7C7B"/>
                </a:solidFill>
                <a:latin typeface="Calibri"/>
              </a:rPr>
              <a:t>08 — TECHNICAL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mbria"/>
              </a:rPr>
              <a:t>How each step actually works (1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79"/>
                </a:solidFill>
                <a:latin typeface="Calibri"/>
              </a:rPr>
              <a:t>The six-step call flow from the architecture section, expanded into the actual request/response detail at each hop.</a:t>
            </a:r>
          </a:p>
        </p:txBody>
      </p:sp>
      <p:pic>
        <p:nvPicPr>
          <p:cNvPr id="5" name="Picture 4" descr="flow-steps-1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56" y="2148840"/>
            <a:ext cx="10672638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0E7C7B"/>
                </a:solidFill>
                <a:latin typeface="Calibri"/>
              </a:rPr>
              <a:t>08 — TECHNICAL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mbria"/>
              </a:rPr>
              <a:t>How each step actually works (2 of 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79"/>
                </a:solidFill>
                <a:latin typeface="Calibri"/>
              </a:rPr>
              <a:t>The six-step call flow from the architecture section, expanded into the actual request/response detail at each hop.</a:t>
            </a:r>
          </a:p>
        </p:txBody>
      </p:sp>
      <p:pic>
        <p:nvPicPr>
          <p:cNvPr id="5" name="Picture 4" descr="flow-steps-4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156" y="2148840"/>
            <a:ext cx="10672638" cy="4160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0E7C7B"/>
                </a:solidFill>
                <a:latin typeface="Calibri"/>
              </a:rPr>
              <a:t>08 — TECHNICAL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mbria"/>
              </a:rPr>
              <a:t>Vendor deep-dive — the two composable front-runners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257800" cy="4434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057400"/>
            <a:ext cx="47457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2430"/>
                </a:solidFill>
                <a:latin typeface="Cambria"/>
              </a:rPr>
              <a:t>Vapi</a:t>
            </a:r>
          </a:p>
        </p:txBody>
      </p:sp>
      <p:pic>
        <p:nvPicPr>
          <p:cNvPr id="6" name="Picture 5" descr="arch-vap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57" y="2514600"/>
            <a:ext cx="4291445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6112" y="4251960"/>
            <a:ext cx="4745736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Pricing: $0.05/min platform fee + pass-through STT/TTS/LLM/telephony (all-in ~$0.13–$0.31/min)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Concurrency: usage-based, scales on demand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Docs: deep tooling ecosystem, documented custom-voice/webhook pattern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Best fit: primary recommendation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874519"/>
            <a:ext cx="5257800" cy="4434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057400"/>
            <a:ext cx="47457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2430"/>
                </a:solidFill>
                <a:latin typeface="Cambria"/>
              </a:rPr>
              <a:t>Retell AI</a:t>
            </a:r>
          </a:p>
        </p:txBody>
      </p:sp>
      <p:pic>
        <p:nvPicPr>
          <p:cNvPr id="10" name="Picture 9" descr="arch-rete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249" y="2514600"/>
            <a:ext cx="4291445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47104" y="4251960"/>
            <a:ext cx="4745736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Pricing: $0.055/min infra + pass-through TTS/LLM + $0.015/min telephony (waived with BYO-SIP)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Concurrency: 20 concurrent included free, +$8/slot/mo beyond that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Docs: explicit BYO-SIP guidance (Twilio, Vonage, Telnyx, direct carrier)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Best fit: strong alternative / fallback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0E7C7B"/>
                </a:solidFill>
                <a:latin typeface="Calibri"/>
              </a:rPr>
              <a:t>08 — TECHNICAL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mbria"/>
              </a:rPr>
              <a:t>Vendor deep-dive — closed platform vs. India-native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257800" cy="4434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057400"/>
            <a:ext cx="47457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2430"/>
                </a:solidFill>
                <a:latin typeface="Cambria"/>
              </a:rPr>
              <a:t>Bland.ai</a:t>
            </a:r>
          </a:p>
        </p:txBody>
      </p:sp>
      <p:pic>
        <p:nvPicPr>
          <p:cNvPr id="6" name="Picture 5" descr="arch-bl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57" y="2514600"/>
            <a:ext cx="4291445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6112" y="4251960"/>
            <a:ext cx="4745736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Bangla support unconfirmed in public docs; 3rd-party ASR only via enterprise BYOK tier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BYO-SIP supported but less documented for Bangladesh numbers specifically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Closed speech stack — can't swap in a Bangla specialist engine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Verdict: workable, but Bangla risk + platform lock-in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874519"/>
            <a:ext cx="5257800" cy="4434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057400"/>
            <a:ext cx="47457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2430"/>
                </a:solidFill>
                <a:latin typeface="Cambria"/>
              </a:rPr>
              <a:t>Bolna AI</a:t>
            </a:r>
          </a:p>
        </p:txBody>
      </p:sp>
      <p:pic>
        <p:nvPicPr>
          <p:cNvPr id="10" name="Picture 9" descr="arch-bol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249" y="2514600"/>
            <a:ext cx="4291445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47104" y="4251960"/>
            <a:ext cx="4745736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Native Bengali, purpose-built for Indic languages and code-mixed speech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India-first telephony — Bangladesh BYO-SIP needs vendor confirmation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Attractive cost point relative to Vapi/Retell + Azure/Sarvam pass-through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Verdict: attractive cost, worth a pilot slot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0E7C7B"/>
                </a:solidFill>
                <a:latin typeface="Calibri"/>
              </a:rPr>
              <a:t>08 — TECHNICAL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mbria"/>
              </a:rPr>
              <a:t>Vendor deep-dive — enterprise fallback vs. full ownership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874519"/>
            <a:ext cx="5257800" cy="4434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2057400"/>
            <a:ext cx="47457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2430"/>
                </a:solidFill>
                <a:latin typeface="Cambria"/>
              </a:rPr>
              <a:t>Gnani.ai</a:t>
            </a:r>
          </a:p>
        </p:txBody>
      </p:sp>
      <p:pic>
        <p:nvPicPr>
          <p:cNvPr id="6" name="Picture 5" descr="arch-gnan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257" y="2514600"/>
            <a:ext cx="4291445" cy="160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96112" y="4251960"/>
            <a:ext cx="4745736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Native Bengali, strong BFSI enterprise track record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Enterprise / sales-led onboarding — less self-serve than Vapi/Retell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Function-calling available at enterprise tier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Verdict: good fallback if Vapi/Retell Bangla quality underperforms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1874519"/>
            <a:ext cx="5257800" cy="443484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47104" y="2057400"/>
            <a:ext cx="474573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A2430"/>
                </a:solidFill>
                <a:latin typeface="Cambria"/>
              </a:rPr>
              <a:t>Full Custom Build</a:t>
            </a:r>
          </a:p>
        </p:txBody>
      </p:sp>
      <p:pic>
        <p:nvPicPr>
          <p:cNvPr id="10" name="Picture 9" descr="arch-cus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4249" y="2514600"/>
            <a:ext cx="4291445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47104" y="4251960"/>
            <a:ext cx="4745736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Twilio Media Streams + hand-rolled STT/LLM/TTS — full control, zero lock-in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Industry estimate: 8–16 weeks, $35,000–$150,000+ before Zoho work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No vendor dependency, but slowest path to the 200–300-lead pilot</a:t>
            </a: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sz="1100">
                <a:solidFill>
                  <a:srgbClr val="5B6B79"/>
                </a:solidFill>
                <a:latin typeface="Calibri"/>
              </a:rPr>
              <a:t>•  Verdict: optional Phase 3, once volume justifies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7315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00">
                <a:solidFill>
                  <a:srgbClr val="0E7C7B"/>
                </a:solidFill>
                <a:latin typeface="Calibri"/>
              </a:rPr>
              <a:t>08 — TECHNICAL 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58368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A2430"/>
                </a:solidFill>
                <a:latin typeface="Cambria"/>
              </a:rPr>
              <a:t>Implementation runbook — what actually gets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5B6B79"/>
                </a:solidFill>
                <a:latin typeface="Calibri"/>
              </a:rPr>
              <a:t>The concrete build steps behind the Phase 1 roadmap — one workstream per card.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148840"/>
            <a:ext cx="3422904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2350008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25496"/>
            <a:ext cx="2965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2430"/>
                </a:solidFill>
                <a:latin typeface="Calibri"/>
              </a:rPr>
              <a:t>Zoho CRM fields &amp; stages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9657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79"/>
                </a:solidFill>
                <a:latin typeface="Calibri"/>
              </a:rPr>
              <a:t>Custom fields/picklists for the 11-stage model; campaign, UTM, destination, branch, enquiry-type fields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3024" y="2148840"/>
            <a:ext cx="3422904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11624" y="2350008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1624" y="2825496"/>
            <a:ext cx="2965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2430"/>
                </a:solidFill>
                <a:latin typeface="Calibri"/>
              </a:rPr>
              <a:t>Workflow Rule + webhook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1624" y="3246120"/>
            <a:ext cx="29657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79"/>
                </a:solidFill>
                <a:latin typeface="Calibri"/>
              </a:rPr>
              <a:t>Instant Webhook or Deluge custom function fires on stage-eligible update — posts Lead ID + context, no Zapier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25968" y="2148840"/>
            <a:ext cx="3422904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54568" y="2350008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4568" y="2825496"/>
            <a:ext cx="2965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2430"/>
                </a:solidFill>
                <a:latin typeface="Calibri"/>
              </a:rPr>
              <a:t>Middleware: webhook receiver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54568" y="3246120"/>
            <a:ext cx="29657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79"/>
                </a:solidFill>
                <a:latin typeface="Calibri"/>
              </a:rPr>
              <a:t>Receives Zoho's trigger and the voice platform's end-of-call webhook; maps outcome to stage per BR-01–BR-10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89120"/>
            <a:ext cx="3422904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4590288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065776"/>
            <a:ext cx="2965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2430"/>
                </a:solidFill>
                <a:latin typeface="Calibri"/>
              </a:rPr>
              <a:t>Middleware: retry scheduler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86400"/>
            <a:ext cx="29657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79"/>
                </a:solidFill>
                <a:latin typeface="Calibri"/>
              </a:rPr>
              <a:t>Seven-attempt / five-day retry logic with configurable calling windows (NFR-04)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3024" y="4389120"/>
            <a:ext cx="3422904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11624" y="4590288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11624" y="5065776"/>
            <a:ext cx="2965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2430"/>
                </a:solidFill>
                <a:latin typeface="Calibri"/>
              </a:rPr>
              <a:t>Voice platform + BYO-SIP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1624" y="5486400"/>
            <a:ext cx="29657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79"/>
                </a:solidFill>
                <a:latin typeface="Calibri"/>
              </a:rPr>
              <a:t>Assistant/script config in Vapi or Retell; BYO-SIP trunk connected; leadId + context wired to the outbound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5968" y="4389120"/>
            <a:ext cx="3422904" cy="1965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CE4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54568" y="4590288"/>
            <a:ext cx="384048" cy="384048"/>
          </a:xfrm>
          <a:prstGeom prst="ellipse">
            <a:avLst/>
          </a:prstGeom>
          <a:solidFill>
            <a:srgbClr val="0E7C7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54568" y="5065776"/>
            <a:ext cx="296570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1A2430"/>
                </a:solidFill>
                <a:latin typeface="Calibri"/>
              </a:rPr>
              <a:t>Speech A/B + test calls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54568" y="5486400"/>
            <a:ext cx="2965704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050" b="0" i="0">
                <a:solidFill>
                  <a:srgbClr val="5B6B79"/>
                </a:solidFill>
                <a:latin typeface="Calibri"/>
              </a:rPr>
              <a:t>Azure bn-BD vs Sarvam vs Deepgram scored by native-speaker review; end-to-end test calls with real leadId round-trip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000">
                <a:solidFill>
                  <a:srgbClr val="9AA7B0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PFEC Global Engagement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AI Technology Consulting</dc:creator>
  <cp:lastModifiedBy>AI Technology Consulting</cp:lastModifiedBy>
  <cp:revision>1</cp:revision>
  <dcterms:created xsi:type="dcterms:W3CDTF">2026-07-23T15:07:20Z</dcterms:created>
  <dcterms:modified xsi:type="dcterms:W3CDTF">2026-07-23T15:07:20Z</dcterms:modified>
</cp:coreProperties>
</file>